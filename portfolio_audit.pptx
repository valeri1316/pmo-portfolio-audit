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Arial"/>
              </a:rPr>
              <a:t>Портфель ИТ-проектов: масштаб и полнота данных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2A78D6"/>
                </a:solidFill>
                <a:latin typeface="Arial"/>
              </a:rPr>
              <a:t>100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2024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2514E"/>
                </a:solidFill>
                <a:latin typeface="Arial"/>
              </a:rPr>
              <a:t>проектов в портфеле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37560" y="1417320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2A78D6"/>
                </a:solidFill>
                <a:latin typeface="Arial"/>
              </a:rPr>
              <a:t>12.0 млрд 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37560" y="192024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2514E"/>
                </a:solidFill>
                <a:latin typeface="Arial"/>
              </a:rPr>
              <a:t>общая стоимость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417320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2A78D6"/>
                </a:solidFill>
                <a:latin typeface="Arial"/>
              </a:rPr>
              <a:t>120.0 млн 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92024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2514E"/>
                </a:solidFill>
                <a:latin typeface="Arial"/>
              </a:rPr>
              <a:t>средний проект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399" y="1417320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2A78D6"/>
                </a:solidFill>
                <a:latin typeface="Arial"/>
              </a:rPr>
              <a:t>98.3%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399" y="192024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2514E"/>
                </a:solidFill>
                <a:latin typeface="Arial"/>
              </a:rPr>
              <a:t>задач закрыто</a:t>
            </a:r>
          </a:p>
        </p:txBody>
      </p:sp>
      <p:pic>
        <p:nvPicPr>
          <p:cNvPr id="11" name="Picture 10" descr="category_split_don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3128" y="2606040"/>
            <a:ext cx="3383280" cy="33832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Arial"/>
              </a:rPr>
              <a:t>77 технологических проектов против 23 офисно-коммерческих — контекст для сравнения на слайде 4.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Arial"/>
              </a:rPr>
              <a:t>Анализ расписания: где именно теряем время</a:t>
            </a:r>
          </a:p>
        </p:txBody>
      </p:sp>
      <p:pic>
        <p:nvPicPr>
          <p:cNvPr id="3" name="Picture 2" descr="top5_overrun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5039360" cy="2834640"/>
          </a:xfrm>
          <a:prstGeom prst="rect">
            <a:avLst/>
          </a:prstGeom>
        </p:spPr>
      </p:pic>
      <p:pic>
        <p:nvPicPr>
          <p:cNvPr id="4" name="Picture 3" descr="stage_benchmark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417320"/>
            <a:ext cx="3950208" cy="2194560"/>
          </a:xfrm>
          <a:prstGeom prst="rect">
            <a:avLst/>
          </a:prstGeom>
        </p:spPr>
      </p:pic>
      <p:pic>
        <p:nvPicPr>
          <p:cNvPr id="5" name="Picture 4" descr="overrun_histo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3977639"/>
            <a:ext cx="3129280" cy="2011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66344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Arial"/>
              </a:rPr>
              <a:t>Топ-5 проектов по срыву дедлайна. Звёздочка — последняя задача проекта не закрыта, реальный срыв может быть больше.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Arial"/>
              </a:rPr>
              <a:t>68 проектов укладываются в 0–3 дня, хвост из 23 проектов даёт срыв 6–19 дней. Проблема сконцентрирована, а не размазана по портфелю.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Arial"/>
              </a:rPr>
              <a:t>Финансово-ресурсный анализ</a:t>
            </a:r>
          </a:p>
        </p:txBody>
      </p:sp>
      <p:pic>
        <p:nvPicPr>
          <p:cNvPr id="3" name="Picture 2" descr="currency_don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2743200" cy="2743200"/>
          </a:xfrm>
          <a:prstGeom prst="rect">
            <a:avLst/>
          </a:prstGeom>
        </p:spPr>
      </p:pic>
      <p:pic>
        <p:nvPicPr>
          <p:cNvPr id="4" name="Picture 3" descr="top3_pm_budget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417320"/>
            <a:ext cx="3566160" cy="2377440"/>
          </a:xfrm>
          <a:prstGeom prst="rect">
            <a:avLst/>
          </a:prstGeom>
        </p:spPr>
      </p:pic>
      <p:pic>
        <p:nvPicPr>
          <p:cNvPr id="5" name="Picture 4" descr="pm_reliability_scat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1417320"/>
            <a:ext cx="3616036" cy="2651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8463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Arial"/>
              </a:rPr>
              <a:t>96% стоимости — валютные платежи, пересчитанные по условному курсу из ТЗ. Итог чувствителен к этому допущению.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484632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Arial"/>
              </a:rPr>
              <a:t>Топ-3 PM по объёму освоенного бюджета.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484632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Arial"/>
              </a:rPr>
              <a:t>Бюджет и надёжность — разные оси.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03504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0B0B0B"/>
                </a:solidFill>
                <a:latin typeface="Arial"/>
              </a:rPr>
              <a:t>Кузнецов В.В. осваивает больше всех бюджета и срывает сроки чаще всех (56.2% проектов с опозданием). Васильев Н.А., третий по бюджету, — самый надёжный в портфеле (13.3%).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Arial"/>
              </a:rPr>
              <a:t>Бизнес-анализ ИТ-ландшафта</a:t>
            </a:r>
          </a:p>
        </p:txBody>
      </p:sp>
      <p:pic>
        <p:nvPicPr>
          <p:cNvPr id="3" name="Picture 2" descr="categor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417320"/>
            <a:ext cx="8046720" cy="4023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Arial"/>
              </a:rPr>
              <a:t>Проекты разделены по составу закупок: «технологические» — там, где закупались серверы и системные блоки; «офисно-коммерческие» — только периферия и расходники.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Arial"/>
              </a:rPr>
              <a:t>Качество исходных данных</a:t>
            </a:r>
          </a:p>
        </p:txBody>
      </p:sp>
      <p:pic>
        <p:nvPicPr>
          <p:cNvPr id="3" name="Picture 2" descr="data_quality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417320"/>
            <a:ext cx="7077456" cy="3931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Arial"/>
              </a:rPr>
              <a:t>Все три источника содержат систематические, а не разовые дефекты ввода: битые коды проектов, суммы текстом, даты-заглушки вместо пустых значений. Разовых сбоев и дублей в данных нет.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Arial"/>
              </a:rPr>
              <a:t>Выводы и рекомендации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2A78D6"/>
                </a:solidFill>
                <a:latin typeface="Arial"/>
              </a:rPr>
              <a:t>Сроки под контролем, но есть очаг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0136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0B0B0B"/>
                </a:solidFill>
                <a:latin typeface="Arial"/>
              </a:rPr>
              <a:t>68 из 100 проектов укладываются в 0–3 дня от плана. Проблема — в хвосте из 23 проектов со срывом до 19 дней. Систематически недооценены этапы разработки и тестирования: закладывать буфер именно на них.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87752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2A78D6"/>
                </a:solidFill>
                <a:latin typeface="Arial"/>
              </a:rPr>
              <a:t>Оценка портфеля держится на допущении о курсе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7180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0B0B0B"/>
                </a:solidFill>
                <a:latin typeface="Arial"/>
              </a:rPr>
              <a:t>96% стоимости — валютные платежи, пересчитанные по фиксированному курсу из ТЗ (1 USD = 90 ₽, 1 EUR = 100 ₽). Отклонение реального курса на 10% меняет итог на сотни миллионов рублей. Указывать курс как допущение, а не как факт.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58184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2A78D6"/>
                </a:solidFill>
                <a:latin typeface="Arial"/>
              </a:rPr>
              <a:t>Объём бюджета не равен надёжности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4223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0B0B0B"/>
                </a:solidFill>
                <a:latin typeface="Arial"/>
              </a:rPr>
              <a:t>Лидер по освоенному бюджету — одновременно PM с худшей дисциплиной сроков. Оценивать руководителей по обеим осям, а не только по объёму.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92861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2A78D6"/>
                </a:solidFill>
                <a:latin typeface="Arial"/>
              </a:rPr>
              <a:t>Данные нужно чинить на входе, а не на выходе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312664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0B0B0B"/>
                </a:solidFill>
                <a:latin typeface="Arial"/>
              </a:rPr>
              <a:t>Все найденные дефекты систематические и локализованы в трёх формах ввода. Рекомендации: справочник проектов вместо свободного ввода кода, числовое поле для суммы, пустое состояние для дат вместо заглушек.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